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320040" y="2395727"/>
            <a:ext cx="8503920" cy="45721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457200" y="701744"/>
            <a:ext cx="7955279" cy="1339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Controllo di un</a:t>
            </a:r>
          </a:p>
          <a:p>
            <a:pPr>
              <a:defRPr b="1" sz="4400">
                <a:solidFill>
                  <a:srgbClr val="FFFFFF"/>
                </a:solidFill>
              </a:defRPr>
            </a:pPr>
            <a:r>
              <a:t>Braccio Robotico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457200" y="2636958"/>
            <a:ext cx="795527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CADCFC"/>
                </a:solidFill>
              </a:defRPr>
            </a:lvl1pPr>
          </a:lstStyle>
          <a:p>
            <a:pPr/>
            <a:r>
              <a:t>Sistema Dinamico del 2° Ordine · Linearizzazione · Progetto Regolatore PI + Lead · Feedforward</a:t>
            </a:r>
          </a:p>
        </p:txBody>
      </p:sp>
      <p:sp>
        <p:nvSpPr>
          <p:cNvPr id="24" name="Shape 4"/>
          <p:cNvSpPr/>
          <p:nvPr/>
        </p:nvSpPr>
        <p:spPr>
          <a:xfrm>
            <a:off x="411480" y="3154679"/>
            <a:ext cx="5029201" cy="1463041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640079" y="3246120"/>
            <a:ext cx="4572001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E8A020"/>
                </a:solidFill>
              </a:defRPr>
            </a:pPr>
            <a:r>
              <a:t>Sistema:</a:t>
            </a:r>
            <a:r>
              <a:rPr b="0">
                <a:solidFill>
                  <a:srgbClr val="FFFFFF"/>
                </a:solidFill>
              </a:rPr>
              <a:t xml:space="preserve">  Braccio robotico planare 1-DOF</a:t>
            </a:r>
          </a:p>
          <a:p>
            <a:pPr>
              <a:defRPr b="1" sz="1100">
                <a:solidFill>
                  <a:srgbClr val="E8A020"/>
                </a:solidFill>
              </a:defRPr>
            </a:pPr>
            <a:r>
              <a:t>Controllo:</a:t>
            </a:r>
            <a:r>
              <a:rPr b="0">
                <a:solidFill>
                  <a:srgbClr val="FFFFFF"/>
                </a:solidFill>
              </a:rPr>
              <a:t xml:space="preserve">  Regolatore PI + rete anticipatrice</a:t>
            </a:r>
          </a:p>
          <a:p>
            <a:pPr>
              <a:defRPr b="1" sz="1100">
                <a:solidFill>
                  <a:srgbClr val="E8A020"/>
                </a:solidFill>
              </a:defRPr>
            </a:pPr>
            <a:r>
              <a:t>Specifiche:</a:t>
            </a:r>
            <a:r>
              <a:rPr b="0">
                <a:solidFill>
                  <a:srgbClr val="FFFFFF"/>
                </a:solidFill>
              </a:rPr>
              <a:t xml:space="preserve">  errore &lt;5%, OS &lt;10%, Ts minimo</a:t>
            </a:r>
          </a:p>
          <a:p>
            <a:pPr>
              <a:defRPr b="1" sz="1100">
                <a:solidFill>
                  <a:srgbClr val="E8A020"/>
                </a:solidFill>
              </a:defRPr>
            </a:pPr>
            <a:r>
              <a:t>Analisi:</a:t>
            </a:r>
            <a:r>
              <a:rPr b="0">
                <a:solidFill>
                  <a:srgbClr val="FFFFFF"/>
                </a:solidFill>
              </a:rPr>
              <a:t xml:space="preserve">  sensitività, ritardo, saturazione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457200" y="4777784"/>
            <a:ext cx="81381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7A9CC8"/>
                </a:solidFill>
              </a:defRPr>
            </a:lvl1pPr>
          </a:lstStyle>
          <a:p>
            <a:pPr/>
            <a:r>
              <a:t>Progetto di Controlli Automatici MATRICOLA : 0315954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Sistema Fisico – Braccio Robotico 1-DOF</a:t>
            </a:r>
          </a:p>
        </p:txBody>
      </p:sp>
      <p:sp>
        <p:nvSpPr>
          <p:cNvPr id="30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3"/>
          <p:cNvSpPr/>
          <p:nvPr/>
        </p:nvSpPr>
        <p:spPr>
          <a:xfrm>
            <a:off x="274320" y="804671"/>
            <a:ext cx="4114801" cy="4023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" name="Shape 4"/>
          <p:cNvSpPr/>
          <p:nvPr/>
        </p:nvSpPr>
        <p:spPr>
          <a:xfrm>
            <a:off x="274320" y="804671"/>
            <a:ext cx="91441" cy="4023361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5"/>
          <p:cNvSpPr txBox="1"/>
          <p:nvPr/>
        </p:nvSpPr>
        <p:spPr>
          <a:xfrm>
            <a:off x="502919" y="911160"/>
            <a:ext cx="36576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C2B4A"/>
                </a:solidFill>
              </a:defRPr>
            </a:lvl1pPr>
          </a:lstStyle>
          <a:p>
            <a:pPr/>
            <a:r>
              <a:t>Modello fisico</a:t>
            </a:r>
          </a:p>
        </p:txBody>
      </p:sp>
      <p:sp>
        <p:nvSpPr>
          <p:cNvPr id="34" name="Text 6"/>
          <p:cNvSpPr txBox="1"/>
          <p:nvPr/>
        </p:nvSpPr>
        <p:spPr>
          <a:xfrm>
            <a:off x="502919" y="1298447"/>
            <a:ext cx="3657601" cy="2206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Braccio rigido di lunghezza L ruotante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attorno a un giunto fisso (θ = angolo).</a:t>
            </a:r>
          </a:p>
          <a:p>
            <a:pPr>
              <a:defRPr sz="1100"/>
            </a:pP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Variabile controllata: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θ(t)  [rad]</a:t>
            </a: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Variabile di controllo:</a:t>
            </a:r>
            <a:r>
              <a:rPr b="0"/>
              <a:t xml:space="preserve">  τ(t)  [Nm]</a:t>
            </a:r>
          </a:p>
          <a:p>
            <a:pPr>
              <a:defRPr sz="1100"/>
            </a:pP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Parametri fisici: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J = 0.5 kg·m²   (inerzia)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B = 2.0 Nm·s/rad   (attrito viscoso)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M = 2.0 kg   (massa)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L = 0.5 m   (lunghezza braccio)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g = 9.81 m/s²</a:t>
            </a:r>
          </a:p>
        </p:txBody>
      </p:sp>
      <p:sp>
        <p:nvSpPr>
          <p:cNvPr id="35" name="Shape 7"/>
          <p:cNvSpPr/>
          <p:nvPr/>
        </p:nvSpPr>
        <p:spPr>
          <a:xfrm>
            <a:off x="4663440" y="804671"/>
            <a:ext cx="4206241" cy="4023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Shape 8"/>
          <p:cNvSpPr/>
          <p:nvPr/>
        </p:nvSpPr>
        <p:spPr>
          <a:xfrm>
            <a:off x="4663440" y="804671"/>
            <a:ext cx="91441" cy="402336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9"/>
          <p:cNvSpPr txBox="1"/>
          <p:nvPr/>
        </p:nvSpPr>
        <p:spPr>
          <a:xfrm>
            <a:off x="4892040" y="911160"/>
            <a:ext cx="37490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C2B4A"/>
                </a:solidFill>
              </a:defRPr>
            </a:lvl1pPr>
          </a:lstStyle>
          <a:p>
            <a:pPr/>
            <a:r>
              <a:t>Equazione del moto (Eq. 1)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4892040" y="1368474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4A5568"/>
                </a:solidFill>
              </a:defRPr>
            </a:lvl1pPr>
          </a:lstStyle>
          <a:p>
            <a:pPr/>
            <a:r>
              <a:t>Applicando la II legge di Newton rotazionale:</a:t>
            </a:r>
          </a:p>
        </p:txBody>
      </p:sp>
      <p:sp>
        <p:nvSpPr>
          <p:cNvPr id="39" name="Shape 11"/>
          <p:cNvSpPr/>
          <p:nvPr/>
        </p:nvSpPr>
        <p:spPr>
          <a:xfrm>
            <a:off x="4846320" y="1691639"/>
            <a:ext cx="3840480" cy="685801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4892040" y="1894140"/>
            <a:ext cx="37490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C2B4A"/>
                </a:solidFill>
              </a:defRPr>
            </a:lvl1pPr>
          </a:lstStyle>
          <a:p>
            <a:pPr/>
            <a:r>
              <a:t>J·θ̈ + B·θ̇ + MgL/2·sin(θ) = τ(t)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4892040" y="2423160"/>
            <a:ext cx="3749040" cy="1381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/>
            </a:pP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Non linearità: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termine sin(θ) rende il sistema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non lineare → necessaria linearizzazione</a:t>
            </a:r>
          </a:p>
          <a:p>
            <a:pPr>
              <a:defRPr sz="1100"/>
            </a:pP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Punto di equilibrio: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  θ₀ = 0 (braccio verticale)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con τ₀ = 0 (nessuna coppia a riposo)</a:t>
            </a:r>
          </a:p>
        </p:txBody>
      </p:sp>
      <p:sp>
        <p:nvSpPr>
          <p:cNvPr id="42" name="Text 14"/>
          <p:cNvSpPr txBox="1"/>
          <p:nvPr/>
        </p:nvSpPr>
        <p:spPr>
          <a:xfrm>
            <a:off x="320040" y="4798226"/>
            <a:ext cx="850392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i="1" sz="900">
                <a:solidFill>
                  <a:srgbClr val="999999"/>
                </a:solidFill>
              </a:defRPr>
            </a:lvl1pPr>
          </a:lstStyle>
          <a:p>
            <a:pPr/>
            <a:r>
              <a:t>Fig. 1 – Schema a blocchi a slide successiva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Linearizzazione e Funzione di Trasferimento</a:t>
            </a:r>
          </a:p>
        </p:txBody>
      </p:sp>
      <p:sp>
        <p:nvSpPr>
          <p:cNvPr id="46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3"/>
          <p:cNvSpPr/>
          <p:nvPr/>
        </p:nvSpPr>
        <p:spPr>
          <a:xfrm>
            <a:off x="274320" y="777240"/>
            <a:ext cx="8595360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Text 4"/>
          <p:cNvSpPr txBox="1"/>
          <p:nvPr/>
        </p:nvSpPr>
        <p:spPr>
          <a:xfrm>
            <a:off x="502919" y="885883"/>
            <a:ext cx="8138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C2B4A"/>
                </a:solidFill>
              </a:defRPr>
            </a:lvl1pPr>
          </a:lstStyle>
          <a:p>
            <a:pPr/>
            <a:r>
              <a:t>Linearizzazione attorno a θ₀ = 0  (Eq. 2)</a:t>
            </a:r>
          </a:p>
        </p:txBody>
      </p:sp>
      <p:sp>
        <p:nvSpPr>
          <p:cNvPr id="49" name="Text 5"/>
          <p:cNvSpPr txBox="1"/>
          <p:nvPr/>
        </p:nvSpPr>
        <p:spPr>
          <a:xfrm>
            <a:off x="502919" y="1216152"/>
            <a:ext cx="8138161" cy="819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Approssimazione di piccolo segnale: sin(θ) ≈ θ  →  δθ piccola variazione attorno all'equilibrio</a:t>
            </a:r>
          </a:p>
          <a:p>
            <a:pPr>
              <a:defRPr b="1" sz="1200">
                <a:solidFill>
                  <a:srgbClr val="2D6A9F"/>
                </a:solidFill>
              </a:defRPr>
            </a:pPr>
            <a:r>
              <a:t xml:space="preserve">  ⟹  J·δθ̈ + B·δθ̇ + (MgL/2)·δθ = δτ  (Eq. 3)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Trasformata di Laplace (c.i. nulle):</a:t>
            </a:r>
          </a:p>
          <a:p>
            <a:pPr>
              <a:defRPr b="1" sz="1200">
                <a:solidFill>
                  <a:srgbClr val="2D6A9F"/>
                </a:solidFill>
              </a:defRPr>
            </a:pPr>
            <a:r>
              <a:t xml:space="preserve">  ⟹  (Js² + Bs + MgL/2)·Θ(s) = T(s)  (Eq. 4)</a:t>
            </a:r>
          </a:p>
        </p:txBody>
      </p:sp>
      <p:sp>
        <p:nvSpPr>
          <p:cNvPr id="50" name="Shape 6"/>
          <p:cNvSpPr/>
          <p:nvPr/>
        </p:nvSpPr>
        <p:spPr>
          <a:xfrm>
            <a:off x="274320" y="2926079"/>
            <a:ext cx="4114801" cy="1920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" name="Shape 7"/>
          <p:cNvSpPr/>
          <p:nvPr/>
        </p:nvSpPr>
        <p:spPr>
          <a:xfrm>
            <a:off x="274320" y="2926079"/>
            <a:ext cx="91441" cy="1920241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8"/>
          <p:cNvSpPr txBox="1"/>
          <p:nvPr/>
        </p:nvSpPr>
        <p:spPr>
          <a:xfrm>
            <a:off x="502919" y="3039671"/>
            <a:ext cx="36576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Funzione di Trasferimento G(s)  (Eq. 5)</a:t>
            </a:r>
          </a:p>
        </p:txBody>
      </p:sp>
      <p:sp>
        <p:nvSpPr>
          <p:cNvPr id="53" name="Shape 9"/>
          <p:cNvSpPr/>
          <p:nvPr/>
        </p:nvSpPr>
        <p:spPr>
          <a:xfrm>
            <a:off x="457200" y="3383279"/>
            <a:ext cx="3657600" cy="777241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0"/>
          <p:cNvSpPr txBox="1"/>
          <p:nvPr/>
        </p:nvSpPr>
        <p:spPr>
          <a:xfrm>
            <a:off x="502919" y="364774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G(s) = Θ(s)/T(s) = (1/J) / (s² + B/J·s + MgL/2J)</a:t>
            </a:r>
          </a:p>
        </p:txBody>
      </p:sp>
      <p:sp>
        <p:nvSpPr>
          <p:cNvPr id="55" name="Shape 11"/>
          <p:cNvSpPr/>
          <p:nvPr/>
        </p:nvSpPr>
        <p:spPr>
          <a:xfrm>
            <a:off x="457200" y="4251959"/>
            <a:ext cx="365760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2"/>
          <p:cNvSpPr txBox="1"/>
          <p:nvPr/>
        </p:nvSpPr>
        <p:spPr>
          <a:xfrm>
            <a:off x="502919" y="4374318"/>
            <a:ext cx="3566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2D6A9F"/>
                </a:solidFill>
              </a:defRPr>
            </a:lvl1pPr>
          </a:lstStyle>
          <a:p>
            <a:pPr/>
            <a:r>
              <a:t>G(s) = 2 / (s² + 4s + 9.81)  [rad/Nm]</a:t>
            </a:r>
          </a:p>
        </p:txBody>
      </p:sp>
      <p:sp>
        <p:nvSpPr>
          <p:cNvPr id="57" name="Shape 13"/>
          <p:cNvSpPr/>
          <p:nvPr/>
        </p:nvSpPr>
        <p:spPr>
          <a:xfrm>
            <a:off x="4663440" y="2926079"/>
            <a:ext cx="4206241" cy="1920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Shape 14"/>
          <p:cNvSpPr/>
          <p:nvPr/>
        </p:nvSpPr>
        <p:spPr>
          <a:xfrm>
            <a:off x="4663440" y="2926079"/>
            <a:ext cx="91441" cy="1920241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5"/>
          <p:cNvSpPr txBox="1"/>
          <p:nvPr/>
        </p:nvSpPr>
        <p:spPr>
          <a:xfrm>
            <a:off x="4892040" y="3039671"/>
            <a:ext cx="37490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Caratteristiche della pianta</a:t>
            </a:r>
          </a:p>
        </p:txBody>
      </p:sp>
      <p:sp>
        <p:nvSpPr>
          <p:cNvPr id="60" name="Text 16"/>
          <p:cNvSpPr txBox="1"/>
          <p:nvPr/>
        </p:nvSpPr>
        <p:spPr>
          <a:xfrm>
            <a:off x="4892040" y="3364991"/>
            <a:ext cx="3749040" cy="721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C0392B"/>
                </a:solidFill>
              </a:defRPr>
            </a:pPr>
            <a:r>
              <a:t>Tipo 0</a:t>
            </a:r>
            <a:r>
              <a:rPr b="0">
                <a:solidFill>
                  <a:srgbClr val="4A5568"/>
                </a:solidFill>
              </a:rPr>
              <a:t xml:space="preserve"> – errore a regime non nullo a gradino senza integratore</a:t>
            </a: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Poli complessi coniugati:</a:t>
            </a:r>
            <a:r>
              <a:rPr b="0"/>
              <a:t xml:space="preserve">  s₁,₂ = −2 ± j·2.41</a:t>
            </a: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Frequenza naturale:</a:t>
            </a:r>
            <a:r>
              <a:rPr b="0"/>
              <a:t xml:space="preserve">  ωn = √(MgL/2J) = √9.81 ≈ 3.13 rad/s</a:t>
            </a: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Smorzamento:</a:t>
            </a:r>
            <a:r>
              <a:rPr b="0"/>
              <a:t xml:space="preserve">  ζ = B/(2√(J·MgL/2)) = 0.64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Schema a Blocchi del Sistema di Controllo</a:t>
            </a:r>
          </a:p>
        </p:txBody>
      </p:sp>
      <p:sp>
        <p:nvSpPr>
          <p:cNvPr id="64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3"/>
          <p:cNvSpPr/>
          <p:nvPr/>
        </p:nvSpPr>
        <p:spPr>
          <a:xfrm>
            <a:off x="274320" y="777239"/>
            <a:ext cx="8595360" cy="30175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9" y="822960"/>
            <a:ext cx="8412482" cy="2926080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Shape 4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" name="Text 5"/>
          <p:cNvSpPr txBox="1"/>
          <p:nvPr/>
        </p:nvSpPr>
        <p:spPr>
          <a:xfrm>
            <a:off x="502919" y="4120817"/>
            <a:ext cx="8138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2D6A9F"/>
                </a:solidFill>
              </a:defRPr>
            </a:pPr>
            <a:r>
              <a:t>r(t)</a:t>
            </a:r>
            <a:r>
              <a:rPr b="0">
                <a:solidFill>
                  <a:srgbClr val="4A5568"/>
                </a:solidFill>
              </a:rPr>
              <a:t xml:space="preserve"> = riferimento angolare [rad]   </a:t>
            </a:r>
            <a:r>
              <a:rPr>
                <a:solidFill>
                  <a:srgbClr val="C0392B"/>
                </a:solidFill>
              </a:rPr>
              <a:t>e(t)</a:t>
            </a:r>
            <a:r>
              <a:rPr b="0">
                <a:solidFill>
                  <a:srgbClr val="4A5568"/>
                </a:solidFill>
              </a:rPr>
              <a:t xml:space="preserve"> = segnale di errore   </a:t>
            </a:r>
            <a:r>
              <a:rPr>
                <a:solidFill>
                  <a:srgbClr val="1C2B4A"/>
                </a:solidFill>
              </a:rPr>
              <a:t>C(s)</a:t>
            </a:r>
            <a:r>
              <a:rPr b="0">
                <a:solidFill>
                  <a:srgbClr val="4A5568"/>
                </a:solidFill>
              </a:rPr>
              <a:t xml:space="preserve"> = regolatore PI+Lead   </a:t>
            </a:r>
            <a:r>
              <a:rPr>
                <a:solidFill>
                  <a:srgbClr val="27AE60"/>
                </a:solidFill>
              </a:rPr>
              <a:t>G(s)</a:t>
            </a:r>
            <a:r>
              <a:rPr b="0">
                <a:solidFill>
                  <a:srgbClr val="4A5568"/>
                </a:solidFill>
              </a:rPr>
              <a:t xml:space="preserve"> = pianta (braccio)   </a:t>
            </a:r>
            <a:r>
              <a:rPr>
                <a:solidFill>
                  <a:srgbClr val="E8A020"/>
                </a:solidFill>
              </a:rPr>
              <a:t>Ff(s)</a:t>
            </a:r>
            <a:r>
              <a:rPr b="0">
                <a:solidFill>
                  <a:srgbClr val="4A5568"/>
                </a:solidFill>
              </a:rPr>
              <a:t xml:space="preserve"> = blocco feedforward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502919" y="4516427"/>
            <a:ext cx="8138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La funzione d'anello è: L(s) = C(s)·G(s)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Specifiche di Progetto</a:t>
            </a:r>
          </a:p>
        </p:txBody>
      </p:sp>
      <p:sp>
        <p:nvSpPr>
          <p:cNvPr id="73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3"/>
          <p:cNvSpPr/>
          <p:nvPr/>
        </p:nvSpPr>
        <p:spPr>
          <a:xfrm>
            <a:off x="228600" y="804671"/>
            <a:ext cx="4251960" cy="16459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4"/>
          <p:cNvSpPr/>
          <p:nvPr/>
        </p:nvSpPr>
        <p:spPr>
          <a:xfrm>
            <a:off x="228600" y="804671"/>
            <a:ext cx="109728" cy="1645922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5"/>
          <p:cNvSpPr/>
          <p:nvPr/>
        </p:nvSpPr>
        <p:spPr>
          <a:xfrm>
            <a:off x="429768" y="914400"/>
            <a:ext cx="502921" cy="502921"/>
          </a:xfrm>
          <a:prstGeom prst="ellipse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6"/>
          <p:cNvSpPr txBox="1"/>
          <p:nvPr/>
        </p:nvSpPr>
        <p:spPr>
          <a:xfrm>
            <a:off x="475487" y="1053005"/>
            <a:ext cx="411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S1</a:t>
            </a:r>
          </a:p>
        </p:txBody>
      </p:sp>
      <p:sp>
        <p:nvSpPr>
          <p:cNvPr id="78" name="Text 7"/>
          <p:cNvSpPr txBox="1"/>
          <p:nvPr/>
        </p:nvSpPr>
        <p:spPr>
          <a:xfrm>
            <a:off x="1078991" y="1018847"/>
            <a:ext cx="32461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Stabilità asintotica a ciclo chiuso</a:t>
            </a:r>
          </a:p>
        </p:txBody>
      </p:sp>
      <p:sp>
        <p:nvSpPr>
          <p:cNvPr id="79" name="Text 8"/>
          <p:cNvSpPr txBox="1"/>
          <p:nvPr/>
        </p:nvSpPr>
        <p:spPr>
          <a:xfrm>
            <a:off x="475487" y="1688260"/>
            <a:ext cx="384048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5568"/>
                </a:solidFill>
              </a:defRPr>
            </a:lvl1pPr>
          </a:lstStyle>
          <a:p>
            <a:pPr/>
            <a:r>
              <a:t>Il sistema a ciclo chiuso deve avere tutti i poli con parte reale strettamente negativa.</a:t>
            </a:r>
          </a:p>
        </p:txBody>
      </p:sp>
      <p:sp>
        <p:nvSpPr>
          <p:cNvPr id="80" name="Shape 9"/>
          <p:cNvSpPr/>
          <p:nvPr/>
        </p:nvSpPr>
        <p:spPr>
          <a:xfrm>
            <a:off x="4663440" y="804671"/>
            <a:ext cx="4251960" cy="16459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" name="Shape 10"/>
          <p:cNvSpPr/>
          <p:nvPr/>
        </p:nvSpPr>
        <p:spPr>
          <a:xfrm>
            <a:off x="4663440" y="804671"/>
            <a:ext cx="109729" cy="1645922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1"/>
          <p:cNvSpPr/>
          <p:nvPr/>
        </p:nvSpPr>
        <p:spPr>
          <a:xfrm>
            <a:off x="4864608" y="914400"/>
            <a:ext cx="502921" cy="502921"/>
          </a:xfrm>
          <a:prstGeom prst="ellipse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2"/>
          <p:cNvSpPr txBox="1"/>
          <p:nvPr/>
        </p:nvSpPr>
        <p:spPr>
          <a:xfrm>
            <a:off x="4910328" y="1053005"/>
            <a:ext cx="411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S2</a:t>
            </a:r>
          </a:p>
        </p:txBody>
      </p:sp>
      <p:sp>
        <p:nvSpPr>
          <p:cNvPr id="84" name="Text 13"/>
          <p:cNvSpPr txBox="1"/>
          <p:nvPr/>
        </p:nvSpPr>
        <p:spPr>
          <a:xfrm>
            <a:off x="5513832" y="1018847"/>
            <a:ext cx="32461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Errore a regime &lt; 5% (sinusoidale ω=1 rad/s)</a:t>
            </a:r>
          </a:p>
        </p:txBody>
      </p:sp>
      <p:sp>
        <p:nvSpPr>
          <p:cNvPr id="85" name="Text 14"/>
          <p:cNvSpPr txBox="1"/>
          <p:nvPr/>
        </p:nvSpPr>
        <p:spPr>
          <a:xfrm>
            <a:off x="4910328" y="1688260"/>
            <a:ext cx="384048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5568"/>
                </a:solidFill>
              </a:defRPr>
            </a:lvl1pPr>
          </a:lstStyle>
          <a:p>
            <a:pPr/>
            <a:r>
              <a:t>La funzione di sensitività deve soddisfare: |S(j·1)| &lt; 0.05 → |S(j·1)|dB &lt; −26 dB</a:t>
            </a:r>
          </a:p>
        </p:txBody>
      </p:sp>
      <p:sp>
        <p:nvSpPr>
          <p:cNvPr id="86" name="Shape 15"/>
          <p:cNvSpPr/>
          <p:nvPr/>
        </p:nvSpPr>
        <p:spPr>
          <a:xfrm>
            <a:off x="228600" y="2587751"/>
            <a:ext cx="4251960" cy="16459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" name="Shape 16"/>
          <p:cNvSpPr/>
          <p:nvPr/>
        </p:nvSpPr>
        <p:spPr>
          <a:xfrm>
            <a:off x="228600" y="2587751"/>
            <a:ext cx="109728" cy="1645922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7"/>
          <p:cNvSpPr/>
          <p:nvPr/>
        </p:nvSpPr>
        <p:spPr>
          <a:xfrm>
            <a:off x="429768" y="2697479"/>
            <a:ext cx="502921" cy="502921"/>
          </a:xfrm>
          <a:prstGeom prst="ellipse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8"/>
          <p:cNvSpPr txBox="1"/>
          <p:nvPr/>
        </p:nvSpPr>
        <p:spPr>
          <a:xfrm>
            <a:off x="475487" y="2836085"/>
            <a:ext cx="411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S3</a:t>
            </a:r>
          </a:p>
        </p:txBody>
      </p:sp>
      <p:sp>
        <p:nvSpPr>
          <p:cNvPr id="90" name="Text 19"/>
          <p:cNvSpPr txBox="1"/>
          <p:nvPr/>
        </p:nvSpPr>
        <p:spPr>
          <a:xfrm>
            <a:off x="1078991" y="2801927"/>
            <a:ext cx="32461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Overshoot &lt; 10%</a:t>
            </a:r>
          </a:p>
        </p:txBody>
      </p:sp>
      <p:sp>
        <p:nvSpPr>
          <p:cNvPr id="91" name="Text 20"/>
          <p:cNvSpPr txBox="1"/>
          <p:nvPr/>
        </p:nvSpPr>
        <p:spPr>
          <a:xfrm>
            <a:off x="475487" y="3553890"/>
            <a:ext cx="3840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5568"/>
                </a:solidFill>
              </a:defRPr>
            </a:lvl1pPr>
          </a:lstStyle>
          <a:p>
            <a:pPr/>
            <a:r>
              <a:t>Dalla risposta al gradino: OS &lt; 10% → margine di fase MF &gt; 45°</a:t>
            </a:r>
          </a:p>
        </p:txBody>
      </p:sp>
      <p:sp>
        <p:nvSpPr>
          <p:cNvPr id="92" name="Shape 21"/>
          <p:cNvSpPr/>
          <p:nvPr/>
        </p:nvSpPr>
        <p:spPr>
          <a:xfrm>
            <a:off x="4663440" y="2587751"/>
            <a:ext cx="4251960" cy="16459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" name="Shape 22"/>
          <p:cNvSpPr/>
          <p:nvPr/>
        </p:nvSpPr>
        <p:spPr>
          <a:xfrm>
            <a:off x="4663440" y="2587751"/>
            <a:ext cx="109729" cy="1645922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23"/>
          <p:cNvSpPr/>
          <p:nvPr/>
        </p:nvSpPr>
        <p:spPr>
          <a:xfrm>
            <a:off x="4864608" y="2697479"/>
            <a:ext cx="502921" cy="502921"/>
          </a:xfrm>
          <a:prstGeom prst="ellipse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24"/>
          <p:cNvSpPr txBox="1"/>
          <p:nvPr/>
        </p:nvSpPr>
        <p:spPr>
          <a:xfrm>
            <a:off x="4910328" y="2836085"/>
            <a:ext cx="411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S4</a:t>
            </a:r>
          </a:p>
        </p:txBody>
      </p:sp>
      <p:sp>
        <p:nvSpPr>
          <p:cNvPr id="96" name="Text 25"/>
          <p:cNvSpPr txBox="1"/>
          <p:nvPr/>
        </p:nvSpPr>
        <p:spPr>
          <a:xfrm>
            <a:off x="5513832" y="2801927"/>
            <a:ext cx="32461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Tempo di assestamento Ts minimo</a:t>
            </a:r>
          </a:p>
        </p:txBody>
      </p:sp>
      <p:sp>
        <p:nvSpPr>
          <p:cNvPr id="97" name="Text 26"/>
          <p:cNvSpPr txBox="1"/>
          <p:nvPr/>
        </p:nvSpPr>
        <p:spPr>
          <a:xfrm>
            <a:off x="4910328" y="3471340"/>
            <a:ext cx="384048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A5568"/>
                </a:solidFill>
              </a:defRPr>
            </a:lvl1pPr>
          </a:lstStyle>
          <a:p>
            <a:pPr/>
            <a:r>
              <a:t>Massimizzare la prontezza del sistema; minimizzare Ts al 2% del valore finale.</a:t>
            </a:r>
          </a:p>
        </p:txBody>
      </p:sp>
      <p:sp>
        <p:nvSpPr>
          <p:cNvPr id="98" name="Shape 27"/>
          <p:cNvSpPr/>
          <p:nvPr/>
        </p:nvSpPr>
        <p:spPr>
          <a:xfrm>
            <a:off x="228600" y="4462271"/>
            <a:ext cx="8686800" cy="548641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8"/>
          <p:cNvSpPr txBox="1"/>
          <p:nvPr/>
        </p:nvSpPr>
        <p:spPr>
          <a:xfrm>
            <a:off x="365760" y="4619165"/>
            <a:ext cx="8412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2D6A9F"/>
                </a:solidFill>
              </a:defRPr>
            </a:lvl1pPr>
          </a:lstStyle>
          <a:p>
            <a:pPr/>
            <a:r>
              <a:t>Traduzione frequenziale: MF ≥ 45° → OS &lt; 10%  |  |L(j1)| ≥ 19 → errore &lt; 5%  |  ωc elevata → Ts piccolo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Analisi della Pianta G(s) – Diagrammi di Bode</a:t>
            </a:r>
          </a:p>
        </p:txBody>
      </p:sp>
      <p:sp>
        <p:nvSpPr>
          <p:cNvPr id="103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Shape 3"/>
          <p:cNvSpPr/>
          <p:nvPr/>
        </p:nvSpPr>
        <p:spPr>
          <a:xfrm>
            <a:off x="228600" y="777239"/>
            <a:ext cx="5943600" cy="42062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0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804672"/>
            <a:ext cx="5852160" cy="4133089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Shape 4"/>
          <p:cNvSpPr/>
          <p:nvPr/>
        </p:nvSpPr>
        <p:spPr>
          <a:xfrm>
            <a:off x="6400800" y="777239"/>
            <a:ext cx="2514600" cy="42062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Shape 5"/>
          <p:cNvSpPr/>
          <p:nvPr/>
        </p:nvSpPr>
        <p:spPr>
          <a:xfrm>
            <a:off x="6400800" y="777239"/>
            <a:ext cx="91441" cy="4206242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6"/>
          <p:cNvSpPr txBox="1"/>
          <p:nvPr/>
        </p:nvSpPr>
        <p:spPr>
          <a:xfrm>
            <a:off x="6629400" y="918263"/>
            <a:ext cx="21031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Osservazioni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6629400" y="1261872"/>
            <a:ext cx="2121409" cy="2209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4A5568"/>
                </a:solidFill>
              </a:defRPr>
            </a:pPr>
            <a:r>
              <a:t>Sistema del 2° ordine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sottosmorz. (ζ=0.64)</a:t>
            </a:r>
          </a:p>
          <a:p>
            <a:pPr>
              <a:defRPr sz="1000">
                <a:solidFill>
                  <a:srgbClr val="4A5568"/>
                </a:solidFill>
              </a:defRPr>
            </a:pPr>
          </a:p>
          <a:p>
            <a:pPr>
              <a:defRPr b="1" sz="1000">
                <a:solidFill>
                  <a:srgbClr val="4A5568"/>
                </a:solidFill>
              </a:defRPr>
            </a:pPr>
            <a:r>
              <a:t>Guadagno DC:</a:t>
            </a:r>
            <a:endParaRPr b="0"/>
          </a:p>
          <a:p>
            <a:pPr>
              <a:defRPr b="1" sz="1000">
                <a:solidFill>
                  <a:srgbClr val="4A5568"/>
                </a:solidFill>
              </a:defRPr>
            </a:pPr>
            <a:r>
              <a:rPr b="0"/>
              <a:t>|G(0)|=20log(2/9.81)</a:t>
            </a:r>
            <a:endParaRPr b="0"/>
          </a:p>
          <a:p>
            <a:pPr>
              <a:defRPr b="1" sz="1000">
                <a:solidFill>
                  <a:srgbClr val="4A5568"/>
                </a:solidFill>
              </a:defRPr>
            </a:pPr>
            <a:r>
              <a:rPr b="0"/>
              <a:t>=−13.8 dB</a:t>
            </a:r>
            <a:endParaRPr b="0"/>
          </a:p>
          <a:p>
            <a:pPr>
              <a:defRPr b="1" sz="1000">
                <a:solidFill>
                  <a:srgbClr val="4A5568"/>
                </a:solidFill>
              </a:defRPr>
            </a:pPr>
            <a:endParaRPr b="0"/>
          </a:p>
          <a:p>
            <a:pPr>
              <a:defRPr b="1" sz="1000">
                <a:solidFill>
                  <a:srgbClr val="4A5568"/>
                </a:solidFill>
              </a:defRPr>
            </a:pPr>
            <a:r>
              <a:t>Fase DC:</a:t>
            </a:r>
            <a:r>
              <a:rPr b="0"/>
              <a:t xml:space="preserve">  0°</a:t>
            </a:r>
            <a:endParaRPr b="0"/>
          </a:p>
          <a:p>
            <a:pPr>
              <a:defRPr b="1" sz="1000">
                <a:solidFill>
                  <a:srgbClr val="4A5568"/>
                </a:solidFill>
              </a:defRPr>
            </a:pPr>
            <a:endParaRPr b="0"/>
          </a:p>
          <a:p>
            <a:pPr>
              <a:defRPr b="1" sz="1000">
                <a:solidFill>
                  <a:srgbClr val="4A5568"/>
                </a:solidFill>
              </a:defRPr>
            </a:pPr>
            <a:r>
              <a:rPr>
                <a:solidFill>
                  <a:srgbClr val="C0392B"/>
                </a:solidFill>
              </a:rPr>
              <a:t>Tipo 0: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L(j1) troppo basso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→ errore &gt; 5%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→ serve regolatore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"/>
          <p:cNvSpPr txBox="1"/>
          <p:nvPr/>
        </p:nvSpPr>
        <p:spPr>
          <a:xfrm>
            <a:off x="411479" y="131661"/>
            <a:ext cx="832104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Progetto del Regolatore C(s) – PI + Rete Anticipatrice</a:t>
            </a:r>
          </a:p>
        </p:txBody>
      </p:sp>
      <p:sp>
        <p:nvSpPr>
          <p:cNvPr id="113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3"/>
          <p:cNvSpPr/>
          <p:nvPr/>
        </p:nvSpPr>
        <p:spPr>
          <a:xfrm>
            <a:off x="228600" y="777240"/>
            <a:ext cx="4251960" cy="24231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Shape 4"/>
          <p:cNvSpPr/>
          <p:nvPr/>
        </p:nvSpPr>
        <p:spPr>
          <a:xfrm>
            <a:off x="228600" y="777240"/>
            <a:ext cx="109728" cy="2423161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5"/>
          <p:cNvSpPr txBox="1"/>
          <p:nvPr/>
        </p:nvSpPr>
        <p:spPr>
          <a:xfrm>
            <a:off x="475487" y="922835"/>
            <a:ext cx="3840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Parte 1: Regolatore Proporzionale-Integrale (PI)</a:t>
            </a:r>
          </a:p>
        </p:txBody>
      </p:sp>
      <p:sp>
        <p:nvSpPr>
          <p:cNvPr id="117" name="Shape 6"/>
          <p:cNvSpPr/>
          <p:nvPr/>
        </p:nvSpPr>
        <p:spPr>
          <a:xfrm>
            <a:off x="429767" y="1298447"/>
            <a:ext cx="3794761" cy="594361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7"/>
          <p:cNvSpPr txBox="1"/>
          <p:nvPr/>
        </p:nvSpPr>
        <p:spPr>
          <a:xfrm>
            <a:off x="475487" y="1482774"/>
            <a:ext cx="37033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C2B4A"/>
                </a:solidFill>
              </a:defRPr>
            </a:lvl1pPr>
          </a:lstStyle>
          <a:p>
            <a:pPr/>
            <a:r>
              <a:t>CPI(s) = Kp·(s + Ki/Kp) / s = (Kp·s + Ki) / s  (Eq. 6)</a:t>
            </a:r>
          </a:p>
        </p:txBody>
      </p:sp>
      <p:sp>
        <p:nvSpPr>
          <p:cNvPr id="119" name="Text 8"/>
          <p:cNvSpPr txBox="1"/>
          <p:nvPr/>
        </p:nvSpPr>
        <p:spPr>
          <a:xfrm>
            <a:off x="475487" y="1938527"/>
            <a:ext cx="3703320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2D6A9F"/>
                </a:solidFill>
              </a:defRPr>
            </a:pPr>
            <a:r>
              <a:t>Kp = 50,  Ki = 100</a:t>
            </a:r>
          </a:p>
          <a:p>
            <a:pPr>
              <a:defRPr b="1" sz="1100">
                <a:solidFill>
                  <a:srgbClr val="4A5568"/>
                </a:solidFill>
              </a:defRPr>
            </a:pPr>
            <a:r>
              <a:t>→ Integrale:</a:t>
            </a:r>
            <a:r>
              <a:rPr b="0"/>
              <a:t xml:space="preserve"> annulla errore a regime (Tipo 1)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→ |L(j1)| ≫ 19  garantisce errore &lt; 5%</a:t>
            </a:r>
          </a:p>
        </p:txBody>
      </p:sp>
      <p:sp>
        <p:nvSpPr>
          <p:cNvPr id="120" name="Shape 9"/>
          <p:cNvSpPr/>
          <p:nvPr/>
        </p:nvSpPr>
        <p:spPr>
          <a:xfrm>
            <a:off x="4663440" y="777240"/>
            <a:ext cx="4251960" cy="24231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Shape 10"/>
          <p:cNvSpPr/>
          <p:nvPr/>
        </p:nvSpPr>
        <p:spPr>
          <a:xfrm>
            <a:off x="4663440" y="777240"/>
            <a:ext cx="109729" cy="242316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1"/>
          <p:cNvSpPr txBox="1"/>
          <p:nvPr/>
        </p:nvSpPr>
        <p:spPr>
          <a:xfrm>
            <a:off x="4910328" y="922835"/>
            <a:ext cx="38221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Parte 2: Rete Anticipatrice (Lead)</a:t>
            </a:r>
          </a:p>
        </p:txBody>
      </p:sp>
      <p:sp>
        <p:nvSpPr>
          <p:cNvPr id="123" name="Shape 12"/>
          <p:cNvSpPr/>
          <p:nvPr/>
        </p:nvSpPr>
        <p:spPr>
          <a:xfrm>
            <a:off x="4864608" y="1298447"/>
            <a:ext cx="3794760" cy="594361"/>
          </a:xfrm>
          <a:prstGeom prst="rect">
            <a:avLst/>
          </a:prstGeom>
          <a:solidFill>
            <a:srgbClr val="D6F8E0"/>
          </a:solidFill>
          <a:ln w="12700">
            <a:solidFill>
              <a:srgbClr val="27AE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3"/>
          <p:cNvSpPr txBox="1"/>
          <p:nvPr/>
        </p:nvSpPr>
        <p:spPr>
          <a:xfrm>
            <a:off x="4910328" y="1471475"/>
            <a:ext cx="37033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Clead(s) = (τs + 1) / (ατs + 1)  (Eq. 7)</a:t>
            </a:r>
          </a:p>
        </p:txBody>
      </p:sp>
      <p:sp>
        <p:nvSpPr>
          <p:cNvPr id="125" name="Text 14"/>
          <p:cNvSpPr txBox="1"/>
          <p:nvPr/>
        </p:nvSpPr>
        <p:spPr>
          <a:xfrm>
            <a:off x="4910328" y="1938527"/>
            <a:ext cx="3703320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27AE60"/>
                </a:solidFill>
              </a:defRPr>
            </a:pPr>
            <a:r>
              <a:t>τ = 0.3 s,  α = 0.05  (α &lt; 1 → rete anticip.)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→ Aggiunge fase positiva attorno a ωc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→ Aumenta il margine di fase → OS &lt; 10%</a:t>
            </a:r>
          </a:p>
        </p:txBody>
      </p:sp>
      <p:sp>
        <p:nvSpPr>
          <p:cNvPr id="126" name="Shape 15"/>
          <p:cNvSpPr/>
          <p:nvPr/>
        </p:nvSpPr>
        <p:spPr>
          <a:xfrm>
            <a:off x="228600" y="3337559"/>
            <a:ext cx="8686800" cy="1600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Shape 16"/>
          <p:cNvSpPr/>
          <p:nvPr/>
        </p:nvSpPr>
        <p:spPr>
          <a:xfrm>
            <a:off x="228600" y="3337559"/>
            <a:ext cx="8686800" cy="109729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17"/>
          <p:cNvSpPr txBox="1"/>
          <p:nvPr/>
        </p:nvSpPr>
        <p:spPr>
          <a:xfrm>
            <a:off x="411479" y="3519355"/>
            <a:ext cx="8321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C2B4A"/>
                </a:solidFill>
              </a:defRPr>
            </a:lvl1pPr>
          </a:lstStyle>
          <a:p>
            <a:pPr/>
            <a:r>
              <a:t>Regolatore Complessivo: C(s) = CPI(s) · Clead(s)  (Eq. 8)</a:t>
            </a:r>
          </a:p>
        </p:txBody>
      </p:sp>
      <p:sp>
        <p:nvSpPr>
          <p:cNvPr id="129" name="Shape 18"/>
          <p:cNvSpPr/>
          <p:nvPr/>
        </p:nvSpPr>
        <p:spPr>
          <a:xfrm>
            <a:off x="914400" y="3858767"/>
            <a:ext cx="7315200" cy="640081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9"/>
          <p:cNvSpPr txBox="1"/>
          <p:nvPr/>
        </p:nvSpPr>
        <p:spPr>
          <a:xfrm>
            <a:off x="960119" y="4038408"/>
            <a:ext cx="7223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2D6A9F"/>
                </a:solidFill>
              </a:defRPr>
            </a:lvl1pPr>
          </a:lstStyle>
          <a:p>
            <a:pPr/>
            <a:r>
              <a:t>C(s) = (50s + 100) / s · (0.3s + 1) / (0.015s + 1)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"/>
          <p:cNvSpPr txBox="1"/>
          <p:nvPr/>
        </p:nvSpPr>
        <p:spPr>
          <a:xfrm>
            <a:off x="411479" y="131661"/>
            <a:ext cx="832104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Funzione d'Anello L(s) – Verifica Specifiche in Freq.</a:t>
            </a:r>
          </a:p>
        </p:txBody>
      </p:sp>
      <p:sp>
        <p:nvSpPr>
          <p:cNvPr id="134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3"/>
          <p:cNvSpPr/>
          <p:nvPr/>
        </p:nvSpPr>
        <p:spPr>
          <a:xfrm>
            <a:off x="228600" y="777239"/>
            <a:ext cx="5943600" cy="42062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804672"/>
            <a:ext cx="5852160" cy="4133089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hape 4"/>
          <p:cNvSpPr/>
          <p:nvPr/>
        </p:nvSpPr>
        <p:spPr>
          <a:xfrm>
            <a:off x="6400800" y="777239"/>
            <a:ext cx="2514600" cy="42062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Shape 5"/>
          <p:cNvSpPr/>
          <p:nvPr/>
        </p:nvSpPr>
        <p:spPr>
          <a:xfrm>
            <a:off x="6400800" y="777239"/>
            <a:ext cx="91441" cy="4206242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6"/>
          <p:cNvSpPr txBox="1"/>
          <p:nvPr/>
        </p:nvSpPr>
        <p:spPr>
          <a:xfrm>
            <a:off x="6629400" y="918263"/>
            <a:ext cx="21031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Risultati</a:t>
            </a:r>
          </a:p>
        </p:txBody>
      </p:sp>
      <p:sp>
        <p:nvSpPr>
          <p:cNvPr id="140" name="Text 7"/>
          <p:cNvSpPr txBox="1"/>
          <p:nvPr/>
        </p:nvSpPr>
        <p:spPr>
          <a:xfrm>
            <a:off x="6629400" y="1261872"/>
            <a:ext cx="2121409" cy="208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D6A9F"/>
                </a:solidFill>
              </a:defRPr>
            </a:pPr>
            <a:r>
              <a:t>ωc = 28.0 rad/s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(frequenza di taglio)</a:t>
            </a:r>
          </a:p>
          <a:p>
            <a:pPr>
              <a:defRPr sz="1000">
                <a:solidFill>
                  <a:srgbClr val="4A5568"/>
                </a:solidFill>
              </a:defRPr>
            </a:pPr>
          </a:p>
          <a:p>
            <a:pPr>
              <a:defRPr sz="1000">
                <a:solidFill>
                  <a:srgbClr val="4A5568"/>
                </a:solidFill>
              </a:defRPr>
            </a:pPr>
            <a:r>
              <a:rPr b="1">
                <a:solidFill>
                  <a:srgbClr val="27AE60"/>
                </a:solidFill>
              </a:rPr>
              <a:t xml:space="preserve">MF = 64.5°  </a:t>
            </a:r>
            <a:r>
              <a:rPr b="1">
                <a:solidFill>
                  <a:srgbClr val="27AE60"/>
                </a:solidFill>
                <a:latin typeface="+mj-lt"/>
                <a:ea typeface="+mj-ea"/>
                <a:cs typeface="+mj-cs"/>
                <a:sym typeface="Helvetica"/>
              </a:rPr>
              <a:t>✓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(&gt; 45°, spec. OS)</a:t>
            </a:r>
          </a:p>
          <a:p>
            <a:pPr>
              <a:defRPr sz="1000">
                <a:solidFill>
                  <a:srgbClr val="4A5568"/>
                </a:solidFill>
              </a:defRPr>
            </a:pPr>
          </a:p>
          <a:p>
            <a:pPr>
              <a:defRPr sz="1000">
                <a:solidFill>
                  <a:srgbClr val="4A5568"/>
                </a:solidFill>
              </a:defRPr>
            </a:pPr>
            <a:r>
              <a:rPr b="1">
                <a:solidFill>
                  <a:srgbClr val="27AE60"/>
                </a:solidFill>
              </a:rPr>
              <a:t xml:space="preserve">|L(j1)| ≫ 0 dB </a:t>
            </a:r>
            <a:r>
              <a:rPr b="1">
                <a:solidFill>
                  <a:srgbClr val="27AE60"/>
                </a:solidFill>
                <a:latin typeface="+mj-lt"/>
                <a:ea typeface="+mj-ea"/>
                <a:cs typeface="+mj-cs"/>
                <a:sym typeface="Helvetica"/>
              </a:rPr>
              <a:t>✓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→ errore &lt; 5%</a:t>
            </a:r>
          </a:p>
          <a:p>
            <a:pPr>
              <a:defRPr sz="1000">
                <a:solidFill>
                  <a:srgbClr val="4A5568"/>
                </a:solidFill>
              </a:defRPr>
            </a:pPr>
          </a:p>
          <a:p>
            <a:pPr>
              <a:defRPr sz="1000">
                <a:solidFill>
                  <a:srgbClr val="4A5568"/>
                </a:solidFill>
              </a:defRPr>
            </a:pPr>
            <a:r>
              <a:rPr b="1"/>
              <a:t>Sistema CL: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A</a:t>
            </a:r>
            <a:r>
              <a:t>sint. stabile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(poli a Re&lt;0)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Risposta al Gradino – Ciclo Chiuso</a:t>
            </a:r>
          </a:p>
        </p:txBody>
      </p:sp>
      <p:sp>
        <p:nvSpPr>
          <p:cNvPr id="144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3"/>
          <p:cNvSpPr/>
          <p:nvPr/>
        </p:nvSpPr>
        <p:spPr>
          <a:xfrm>
            <a:off x="228600" y="777240"/>
            <a:ext cx="6400800" cy="365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804672"/>
            <a:ext cx="6309360" cy="3584448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hape 4"/>
          <p:cNvSpPr/>
          <p:nvPr/>
        </p:nvSpPr>
        <p:spPr>
          <a:xfrm>
            <a:off x="6812280" y="804672"/>
            <a:ext cx="2103121" cy="10789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" name="Shape 5"/>
          <p:cNvSpPr/>
          <p:nvPr/>
        </p:nvSpPr>
        <p:spPr>
          <a:xfrm>
            <a:off x="6812280" y="804672"/>
            <a:ext cx="2103121" cy="9144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6"/>
          <p:cNvSpPr txBox="1"/>
          <p:nvPr/>
        </p:nvSpPr>
        <p:spPr>
          <a:xfrm>
            <a:off x="6903719" y="964736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5568"/>
                </a:solidFill>
              </a:defRPr>
            </a:lvl1pPr>
          </a:lstStyle>
          <a:p>
            <a:pPr/>
            <a:r>
              <a:t>Overshoot</a:t>
            </a:r>
          </a:p>
        </p:txBody>
      </p:sp>
      <p:sp>
        <p:nvSpPr>
          <p:cNvPr id="150" name="Text 7"/>
          <p:cNvSpPr txBox="1"/>
          <p:nvPr/>
        </p:nvSpPr>
        <p:spPr>
          <a:xfrm>
            <a:off x="6903719" y="1238085"/>
            <a:ext cx="192024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27AE60"/>
                </a:solidFill>
              </a:defRPr>
            </a:lvl1pPr>
          </a:lstStyle>
          <a:p>
            <a:pPr/>
            <a:r>
              <a:t>6.1%</a:t>
            </a:r>
          </a:p>
        </p:txBody>
      </p:sp>
      <p:sp>
        <p:nvSpPr>
          <p:cNvPr id="151" name="Text 8"/>
          <p:cNvSpPr txBox="1"/>
          <p:nvPr/>
        </p:nvSpPr>
        <p:spPr>
          <a:xfrm>
            <a:off x="6903719" y="1573837"/>
            <a:ext cx="1920240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 xml:space="preserve">&lt; 10%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152" name="Shape 9"/>
          <p:cNvSpPr/>
          <p:nvPr/>
        </p:nvSpPr>
        <p:spPr>
          <a:xfrm>
            <a:off x="6812280" y="2011679"/>
            <a:ext cx="2103121" cy="107899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Shape 10"/>
          <p:cNvSpPr/>
          <p:nvPr/>
        </p:nvSpPr>
        <p:spPr>
          <a:xfrm>
            <a:off x="6812280" y="2011679"/>
            <a:ext cx="2103121" cy="91441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1"/>
          <p:cNvSpPr txBox="1"/>
          <p:nvPr/>
        </p:nvSpPr>
        <p:spPr>
          <a:xfrm>
            <a:off x="6903719" y="2171744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5568"/>
                </a:solidFill>
              </a:defRPr>
            </a:lvl1pPr>
          </a:lstStyle>
          <a:p>
            <a:pPr/>
            <a:r>
              <a:t>Settling Time</a:t>
            </a:r>
          </a:p>
        </p:txBody>
      </p:sp>
      <p:sp>
        <p:nvSpPr>
          <p:cNvPr id="155" name="Text 12"/>
          <p:cNvSpPr txBox="1"/>
          <p:nvPr/>
        </p:nvSpPr>
        <p:spPr>
          <a:xfrm>
            <a:off x="6903719" y="2445093"/>
            <a:ext cx="192024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2D6A9F"/>
                </a:solidFill>
              </a:defRPr>
            </a:lvl1pPr>
          </a:lstStyle>
          <a:p>
            <a:pPr/>
            <a:r>
              <a:t>0.169 s</a:t>
            </a:r>
          </a:p>
        </p:txBody>
      </p:sp>
      <p:sp>
        <p:nvSpPr>
          <p:cNvPr id="156" name="Text 13"/>
          <p:cNvSpPr txBox="1"/>
          <p:nvPr/>
        </p:nvSpPr>
        <p:spPr>
          <a:xfrm>
            <a:off x="6903719" y="2795691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A5568"/>
                </a:solidFill>
              </a:defRPr>
            </a:lvl1pPr>
          </a:lstStyle>
          <a:p>
            <a:pPr/>
            <a:r>
              <a:t>(2%)</a:t>
            </a:r>
          </a:p>
        </p:txBody>
      </p:sp>
      <p:sp>
        <p:nvSpPr>
          <p:cNvPr id="157" name="Shape 14"/>
          <p:cNvSpPr/>
          <p:nvPr/>
        </p:nvSpPr>
        <p:spPr>
          <a:xfrm>
            <a:off x="6812280" y="3218688"/>
            <a:ext cx="2103121" cy="107899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Shape 15"/>
          <p:cNvSpPr/>
          <p:nvPr/>
        </p:nvSpPr>
        <p:spPr>
          <a:xfrm>
            <a:off x="6812280" y="3218688"/>
            <a:ext cx="2103121" cy="91441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6"/>
          <p:cNvSpPr txBox="1"/>
          <p:nvPr/>
        </p:nvSpPr>
        <p:spPr>
          <a:xfrm>
            <a:off x="6903719" y="337875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4A5568"/>
                </a:solidFill>
              </a:defRPr>
            </a:lvl1pPr>
          </a:lstStyle>
          <a:p>
            <a:pPr/>
            <a:r>
              <a:t>MF</a:t>
            </a:r>
          </a:p>
        </p:txBody>
      </p:sp>
      <p:sp>
        <p:nvSpPr>
          <p:cNvPr id="160" name="Text 17"/>
          <p:cNvSpPr txBox="1"/>
          <p:nvPr/>
        </p:nvSpPr>
        <p:spPr>
          <a:xfrm>
            <a:off x="6903719" y="3652101"/>
            <a:ext cx="192024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E8A020"/>
                </a:solidFill>
              </a:defRPr>
            </a:lvl1pPr>
          </a:lstStyle>
          <a:p>
            <a:pPr/>
            <a:r>
              <a:t>64.5°</a:t>
            </a:r>
          </a:p>
        </p:txBody>
      </p:sp>
      <p:sp>
        <p:nvSpPr>
          <p:cNvPr id="161" name="Text 18"/>
          <p:cNvSpPr txBox="1"/>
          <p:nvPr/>
        </p:nvSpPr>
        <p:spPr>
          <a:xfrm>
            <a:off x="6903719" y="3987853"/>
            <a:ext cx="1920240" cy="23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 xml:space="preserve">&gt; 45°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162" name="Shape 19"/>
          <p:cNvSpPr/>
          <p:nvPr/>
        </p:nvSpPr>
        <p:spPr>
          <a:xfrm>
            <a:off x="228600" y="4553711"/>
            <a:ext cx="8686800" cy="429769"/>
          </a:xfrm>
          <a:prstGeom prst="rect">
            <a:avLst/>
          </a:prstGeom>
          <a:solidFill>
            <a:srgbClr val="EBF4FF"/>
          </a:solidFill>
          <a:ln w="12700">
            <a:solidFill>
              <a:srgbClr val="2D6A9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0"/>
          <p:cNvSpPr txBox="1"/>
          <p:nvPr/>
        </p:nvSpPr>
        <p:spPr>
          <a:xfrm>
            <a:off x="365760" y="4660314"/>
            <a:ext cx="84124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2D6A9F"/>
                </a:solidFill>
              </a:defRPr>
            </a:lvl1pPr>
          </a:lstStyle>
          <a:p>
            <a:pPr/>
            <a:r>
              <a:t>Tutte le specifiche nel transitorio sono soddisfatte: OS &lt; 10%  ·  sistema asintoticamente stabile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Inseguimento Segnale Sinusoidale</a:t>
            </a:r>
          </a:p>
        </p:txBody>
      </p:sp>
      <p:sp>
        <p:nvSpPr>
          <p:cNvPr id="167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3"/>
          <p:cNvSpPr/>
          <p:nvPr/>
        </p:nvSpPr>
        <p:spPr>
          <a:xfrm>
            <a:off x="228599" y="777239"/>
            <a:ext cx="6492242" cy="42062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804672"/>
            <a:ext cx="6400801" cy="4133089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hape 4"/>
          <p:cNvSpPr/>
          <p:nvPr/>
        </p:nvSpPr>
        <p:spPr>
          <a:xfrm>
            <a:off x="6903719" y="777239"/>
            <a:ext cx="2011680" cy="42062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Shape 5"/>
          <p:cNvSpPr/>
          <p:nvPr/>
        </p:nvSpPr>
        <p:spPr>
          <a:xfrm>
            <a:off x="6903719" y="777239"/>
            <a:ext cx="91441" cy="4206242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6"/>
          <p:cNvSpPr txBox="1"/>
          <p:nvPr/>
        </p:nvSpPr>
        <p:spPr>
          <a:xfrm>
            <a:off x="7132319" y="918263"/>
            <a:ext cx="1600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Spec. S2</a:t>
            </a:r>
          </a:p>
        </p:txBody>
      </p:sp>
      <p:sp>
        <p:nvSpPr>
          <p:cNvPr id="173" name="Text 7"/>
          <p:cNvSpPr txBox="1"/>
          <p:nvPr/>
        </p:nvSpPr>
        <p:spPr>
          <a:xfrm>
            <a:off x="7132319" y="1261872"/>
            <a:ext cx="1600201" cy="180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100">
                <a:solidFill>
                  <a:srgbClr val="2D6A9F"/>
                </a:solidFill>
              </a:defRPr>
            </a:pPr>
            <a:r>
              <a:t>ω = 1 rad/s</a:t>
            </a:r>
          </a:p>
          <a:p>
            <a:pPr>
              <a:defRPr b="1" sz="1100">
                <a:solidFill>
                  <a:srgbClr val="2D6A9F"/>
                </a:solidFill>
              </a:defRPr>
            </a:pPr>
          </a:p>
          <a:p>
            <a:pPr>
              <a:defRPr b="1" sz="1100">
                <a:solidFill>
                  <a:srgbClr val="2D6A9F"/>
                </a:solidFill>
              </a:defRPr>
            </a:pPr>
            <a:r>
              <a:rPr>
                <a:solidFill>
                  <a:srgbClr val="4A5568"/>
                </a:solidFill>
              </a:rPr>
              <a:t>errore =</a:t>
            </a:r>
            <a:endParaRPr>
              <a:solidFill>
                <a:srgbClr val="4A5568"/>
              </a:solidFill>
            </a:endParaRPr>
          </a:p>
          <a:p>
            <a:pPr>
              <a:defRPr b="1" sz="1100">
                <a:solidFill>
                  <a:srgbClr val="2D6A9F"/>
                </a:solidFill>
              </a:defRPr>
            </a:pPr>
            <a:r>
              <a:rPr sz="2200">
                <a:solidFill>
                  <a:srgbClr val="27AE60"/>
                </a:solidFill>
              </a:rPr>
              <a:t>4.09%</a:t>
            </a:r>
            <a:endParaRPr sz="2200">
              <a:solidFill>
                <a:srgbClr val="27AE60"/>
              </a:solidFill>
            </a:endParaRPr>
          </a:p>
          <a:p>
            <a:pPr>
              <a:defRPr b="1" sz="1100">
                <a:solidFill>
                  <a:srgbClr val="2D6A9F"/>
                </a:solidFill>
              </a:defRPr>
            </a:pPr>
            <a:r>
              <a:rPr>
                <a:solidFill>
                  <a:srgbClr val="27AE60"/>
                </a:solidFill>
              </a:rPr>
              <a:t xml:space="preserve">&lt; 5% </a:t>
            </a:r>
            <a:r>
              <a:rPr>
                <a:solidFill>
                  <a:srgbClr val="27AE60"/>
                </a:solidFill>
                <a:latin typeface="+mj-lt"/>
                <a:ea typeface="+mj-ea"/>
                <a:cs typeface="+mj-cs"/>
                <a:sym typeface="Helvetica"/>
              </a:rPr>
              <a:t>✓</a:t>
            </a:r>
            <a:endParaRPr>
              <a:solidFill>
                <a:srgbClr val="27AE60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b="1" sz="1100">
                <a:solidFill>
                  <a:srgbClr val="2D6A9F"/>
                </a:solidFill>
              </a:defRPr>
            </a:pPr>
            <a:endParaRPr>
              <a:solidFill>
                <a:srgbClr val="27AE60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b="1" sz="11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Equivale a: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|S(j1)| =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 xml:space="preserve">−27.8 dB &lt; −26 dB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Azione in Feedforward</a:t>
            </a:r>
          </a:p>
        </p:txBody>
      </p:sp>
      <p:sp>
        <p:nvSpPr>
          <p:cNvPr id="177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Shape 3"/>
          <p:cNvSpPr/>
          <p:nvPr/>
        </p:nvSpPr>
        <p:spPr>
          <a:xfrm>
            <a:off x="228600" y="777240"/>
            <a:ext cx="8686800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Text 4"/>
          <p:cNvSpPr txBox="1"/>
          <p:nvPr/>
        </p:nvSpPr>
        <p:spPr>
          <a:xfrm>
            <a:off x="411479" y="899975"/>
            <a:ext cx="8321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C2B4A"/>
                </a:solidFill>
              </a:defRPr>
            </a:pPr>
            <a:r>
              <a:t>Feedforward statico:</a:t>
            </a:r>
            <a:r>
              <a:rPr b="0">
                <a:solidFill>
                  <a:srgbClr val="4A5568"/>
                </a:solidFill>
              </a:rPr>
              <a:t xml:space="preserve">  Ff = MgL/2 = 4.905 Nm  (pre-compensazione gravitazionale per la pianta reale non lineare)  (Eq. 9)</a:t>
            </a:r>
          </a:p>
        </p:txBody>
      </p:sp>
      <p:sp>
        <p:nvSpPr>
          <p:cNvPr id="180" name="Text 5"/>
          <p:cNvSpPr txBox="1"/>
          <p:nvPr/>
        </p:nvSpPr>
        <p:spPr>
          <a:xfrm>
            <a:off x="411479" y="1188719"/>
            <a:ext cx="832104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Il feedforward agisce sul segnale di riferimento senza passare per l'errore.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Riduce l'errore transitorio ma non modifica la stabilità del ciclo chiuso (S(s) invariata).</a:t>
            </a:r>
          </a:p>
        </p:txBody>
      </p:sp>
      <p:sp>
        <p:nvSpPr>
          <p:cNvPr id="181" name="Shape 6"/>
          <p:cNvSpPr/>
          <p:nvPr/>
        </p:nvSpPr>
        <p:spPr>
          <a:xfrm>
            <a:off x="228600" y="1965960"/>
            <a:ext cx="8686800" cy="2971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993392"/>
            <a:ext cx="8595360" cy="29077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1"/>
          <p:cNvSpPr txBox="1"/>
          <p:nvPr/>
        </p:nvSpPr>
        <p:spPr>
          <a:xfrm>
            <a:off x="411479" y="131661"/>
            <a:ext cx="832104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Funzione di Sensitività e Sensitività del Controllo</a:t>
            </a:r>
          </a:p>
        </p:txBody>
      </p:sp>
      <p:sp>
        <p:nvSpPr>
          <p:cNvPr id="186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hape 3"/>
          <p:cNvSpPr/>
          <p:nvPr/>
        </p:nvSpPr>
        <p:spPr>
          <a:xfrm>
            <a:off x="228600" y="777240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Text 4"/>
          <p:cNvSpPr txBox="1"/>
          <p:nvPr/>
        </p:nvSpPr>
        <p:spPr>
          <a:xfrm>
            <a:off x="411480" y="822960"/>
            <a:ext cx="841248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D6A9F"/>
                </a:solidFill>
              </a:defRPr>
            </a:pPr>
            <a:r>
              <a:t xml:space="preserve">S(s) = 1/(1+L) </a:t>
            </a:r>
            <a:r>
              <a:rPr b="0">
                <a:solidFill>
                  <a:srgbClr val="000000"/>
                </a:solidFill>
              </a:rPr>
              <a:t xml:space="preserve">– sens a disturbi e a variazioni di G   </a:t>
            </a:r>
            <a:r>
              <a:rPr b="0" i="1">
                <a:solidFill>
                  <a:srgbClr val="4A5568"/>
                </a:solidFill>
              </a:rPr>
              <a:t>(Eq. 10)</a:t>
            </a:r>
            <a:r>
              <a:rPr>
                <a:solidFill>
                  <a:srgbClr val="27AE60"/>
                </a:solidFill>
              </a:rPr>
              <a:t xml:space="preserve">     T(s) = L/(1+L) </a:t>
            </a:r>
            <a:r>
              <a:rPr b="0">
                <a:solidFill>
                  <a:srgbClr val="000000"/>
                </a:solidFill>
              </a:rPr>
              <a:t xml:space="preserve">– funzione di sensitività complementare   </a:t>
            </a:r>
            <a:r>
              <a:rPr b="0" i="1">
                <a:solidFill>
                  <a:srgbClr val="4A5568"/>
                </a:solidFill>
              </a:rPr>
              <a:t>(Eq. 11)</a:t>
            </a:r>
          </a:p>
          <a:p>
            <a:pPr>
              <a:defRPr b="1" sz="1000">
                <a:solidFill>
                  <a:srgbClr val="C0392B"/>
                </a:solidFill>
              </a:defRPr>
            </a:pPr>
            <a:r>
              <a:t xml:space="preserve">CS(s) = C(s)·S(s) </a:t>
            </a:r>
            <a:r>
              <a:rPr b="0">
                <a:solidFill>
                  <a:srgbClr val="000000"/>
                </a:solidFill>
              </a:rPr>
              <a:t xml:space="preserve">– sensitività del controllo: quantifica lo sforzo di controllo a fronte di disturbi e rumore   </a:t>
            </a:r>
            <a:r>
              <a:rPr b="0" i="1">
                <a:solidFill>
                  <a:srgbClr val="4A5568"/>
                </a:solidFill>
              </a:rPr>
              <a:t>(Eq. 12)</a:t>
            </a:r>
          </a:p>
        </p:txBody>
      </p:sp>
      <p:sp>
        <p:nvSpPr>
          <p:cNvPr id="189" name="Shape 5"/>
          <p:cNvSpPr/>
          <p:nvPr/>
        </p:nvSpPr>
        <p:spPr>
          <a:xfrm>
            <a:off x="228599" y="1719072"/>
            <a:ext cx="6583682" cy="33375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746504"/>
            <a:ext cx="6492241" cy="327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hape 6"/>
          <p:cNvSpPr/>
          <p:nvPr/>
        </p:nvSpPr>
        <p:spPr>
          <a:xfrm>
            <a:off x="6995159" y="1719072"/>
            <a:ext cx="1920241" cy="33375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" name="Shape 7"/>
          <p:cNvSpPr/>
          <p:nvPr/>
        </p:nvSpPr>
        <p:spPr>
          <a:xfrm>
            <a:off x="6995159" y="1719072"/>
            <a:ext cx="91441" cy="3337560"/>
          </a:xfrm>
          <a:prstGeom prst="rect">
            <a:avLst/>
          </a:prstGeom>
          <a:solidFill>
            <a:srgbClr val="2D6A9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8"/>
          <p:cNvSpPr txBox="1"/>
          <p:nvPr/>
        </p:nvSpPr>
        <p:spPr>
          <a:xfrm>
            <a:off x="7223759" y="1846379"/>
            <a:ext cx="1554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Note</a:t>
            </a:r>
          </a:p>
        </p:txBody>
      </p:sp>
      <p:sp>
        <p:nvSpPr>
          <p:cNvPr id="194" name="Text 9"/>
          <p:cNvSpPr txBox="1"/>
          <p:nvPr/>
        </p:nvSpPr>
        <p:spPr>
          <a:xfrm>
            <a:off x="7223759" y="2176272"/>
            <a:ext cx="1554481" cy="2539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000">
                <a:solidFill>
                  <a:srgbClr val="2D6A9F"/>
                </a:solidFill>
              </a:defRPr>
            </a:pPr>
            <a:r>
              <a:t>S+T = 1</a:t>
            </a: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t>(identità)</a:t>
            </a:r>
          </a:p>
          <a:p>
            <a:pPr>
              <a:defRPr b="1" sz="1000">
                <a:solidFill>
                  <a:srgbClr val="2D6A9F"/>
                </a:solidFill>
              </a:defRPr>
            </a:p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|S|→0</a:t>
            </a: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a bassa ω</a:t>
            </a: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(reject. dist.)</a:t>
            </a: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|T|→0</a:t>
            </a: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ad alta ω</a:t>
            </a: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(reject. rumore)</a:t>
            </a: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endParaRPr b="0">
              <a:solidFill>
                <a:srgbClr val="4A5568"/>
              </a:solidFill>
            </a:endParaRPr>
          </a:p>
          <a:p>
            <a:pPr>
              <a:defRPr b="1" sz="1000">
                <a:solidFill>
                  <a:srgbClr val="2D6A9F"/>
                </a:solidFill>
              </a:defRPr>
            </a:pPr>
            <a:r>
              <a:rPr b="0">
                <a:solidFill>
                  <a:srgbClr val="4A5568"/>
                </a:solidFill>
              </a:rPr>
              <a:t>|CS|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non troppo alto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→ attuatori</a:t>
            </a:r>
          </a:p>
          <a:p>
            <a:pPr>
              <a:defRPr sz="1000">
                <a:solidFill>
                  <a:srgbClr val="4A5568"/>
                </a:solidFill>
              </a:defRPr>
            </a:pPr>
            <a:r>
              <a:t>non saturano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Ritardo Massimo Ammissibile</a:t>
            </a:r>
          </a:p>
        </p:txBody>
      </p:sp>
      <p:sp>
        <p:nvSpPr>
          <p:cNvPr id="198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3"/>
          <p:cNvSpPr/>
          <p:nvPr/>
        </p:nvSpPr>
        <p:spPr>
          <a:xfrm>
            <a:off x="228600" y="777240"/>
            <a:ext cx="8686800" cy="8412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Text 4"/>
          <p:cNvSpPr txBox="1"/>
          <p:nvPr/>
        </p:nvSpPr>
        <p:spPr>
          <a:xfrm>
            <a:off x="411479" y="841247"/>
            <a:ext cx="83210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Un ritardo puro e^(−τs) sottrae fase: ∠e^(−jωτ) = −ωτ rad.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 xml:space="preserve">Il ritardo massimo che il sistema tollera senza perdere stabilità è:  </a:t>
            </a:r>
            <a:r>
              <a:rPr b="1">
                <a:solidFill>
                  <a:srgbClr val="2D6A9F"/>
                </a:solidFill>
              </a:rPr>
              <a:t>τmax = MF / ωc  (Eq. 13)</a:t>
            </a:r>
          </a:p>
        </p:txBody>
      </p:sp>
      <p:sp>
        <p:nvSpPr>
          <p:cNvPr id="201" name="Shape 5"/>
          <p:cNvSpPr/>
          <p:nvPr/>
        </p:nvSpPr>
        <p:spPr>
          <a:xfrm>
            <a:off x="228600" y="1737360"/>
            <a:ext cx="5029200" cy="32918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764792"/>
            <a:ext cx="4937760" cy="3218689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hape 6"/>
          <p:cNvSpPr/>
          <p:nvPr/>
        </p:nvSpPr>
        <p:spPr>
          <a:xfrm>
            <a:off x="5486400" y="1737360"/>
            <a:ext cx="3429000" cy="1554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Shape 7"/>
          <p:cNvSpPr/>
          <p:nvPr/>
        </p:nvSpPr>
        <p:spPr>
          <a:xfrm>
            <a:off x="5486400" y="1737360"/>
            <a:ext cx="3429000" cy="91441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8"/>
          <p:cNvSpPr txBox="1"/>
          <p:nvPr/>
        </p:nvSpPr>
        <p:spPr>
          <a:xfrm>
            <a:off x="5623560" y="1919155"/>
            <a:ext cx="3108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C2B4A"/>
                </a:solidFill>
              </a:defRPr>
            </a:lvl1pPr>
          </a:lstStyle>
          <a:p>
            <a:pPr/>
            <a:r>
              <a:t>Calcolo τmax</a:t>
            </a:r>
          </a:p>
        </p:txBody>
      </p:sp>
      <p:sp>
        <p:nvSpPr>
          <p:cNvPr id="206" name="Text 9"/>
          <p:cNvSpPr txBox="1"/>
          <p:nvPr/>
        </p:nvSpPr>
        <p:spPr>
          <a:xfrm>
            <a:off x="5623560" y="2240279"/>
            <a:ext cx="3108961" cy="829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MF = 64.5° = 1.125 rad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ωc = 28.0 rad/s</a:t>
            </a:r>
          </a:p>
          <a:p>
            <a:pPr>
              <a:defRPr sz="1200">
                <a:solidFill>
                  <a:srgbClr val="4A5568"/>
                </a:solidFill>
              </a:defRPr>
            </a:pPr>
          </a:p>
          <a:p>
            <a:pPr>
              <a:defRPr sz="1200">
                <a:solidFill>
                  <a:srgbClr val="4A5568"/>
                </a:solidFill>
              </a:defRPr>
            </a:pPr>
            <a:r>
              <a:rPr b="1" sz="1300">
                <a:solidFill>
                  <a:srgbClr val="E8A020"/>
                </a:solidFill>
              </a:rPr>
              <a:t>τ max = 1.125 / 28.0 = 0.040 s</a:t>
            </a:r>
          </a:p>
        </p:txBody>
      </p:sp>
      <p:sp>
        <p:nvSpPr>
          <p:cNvPr id="207" name="Shape 10"/>
          <p:cNvSpPr/>
          <p:nvPr/>
        </p:nvSpPr>
        <p:spPr>
          <a:xfrm>
            <a:off x="5486400" y="3429000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Shape 11"/>
          <p:cNvSpPr/>
          <p:nvPr/>
        </p:nvSpPr>
        <p:spPr>
          <a:xfrm>
            <a:off x="5486400" y="3429000"/>
            <a:ext cx="91441" cy="1600200"/>
          </a:xfrm>
          <a:prstGeom prst="rect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12"/>
          <p:cNvSpPr txBox="1"/>
          <p:nvPr/>
        </p:nvSpPr>
        <p:spPr>
          <a:xfrm>
            <a:off x="5715000" y="3551735"/>
            <a:ext cx="3017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4A"/>
                </a:solidFill>
              </a:defRPr>
            </a:lvl1pPr>
          </a:lstStyle>
          <a:p>
            <a:pPr/>
            <a:r>
              <a:t>Interpretazione</a:t>
            </a:r>
          </a:p>
        </p:txBody>
      </p:sp>
      <p:sp>
        <p:nvSpPr>
          <p:cNvPr id="210" name="Text 13"/>
          <p:cNvSpPr txBox="1"/>
          <p:nvPr/>
        </p:nvSpPr>
        <p:spPr>
          <a:xfrm>
            <a:off x="5715000" y="3886200"/>
            <a:ext cx="3017521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Il sistema tollera ritardi di misura/attuazione fino a 40 ms prima di diventare instabile.</a:t>
            </a:r>
          </a:p>
          <a:p>
            <a:pPr>
              <a:defRPr sz="1100">
                <a:solidFill>
                  <a:srgbClr val="4A5568"/>
                </a:solidFill>
              </a:defRPr>
            </a:pPr>
            <a:r>
              <a:t>Tipico ritardo di rete CAN/Ethernet ≪ 40 ms → il sistema è robusto.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2B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1"/>
          <p:cNvSpPr txBox="1"/>
          <p:nvPr/>
        </p:nvSpPr>
        <p:spPr>
          <a:xfrm>
            <a:off x="411479" y="109064"/>
            <a:ext cx="832104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Simulazione con Saturazione in Ingresso</a:t>
            </a:r>
          </a:p>
        </p:txBody>
      </p:sp>
      <p:sp>
        <p:nvSpPr>
          <p:cNvPr id="214" name="Shape 2"/>
          <p:cNvSpPr/>
          <p:nvPr/>
        </p:nvSpPr>
        <p:spPr>
          <a:xfrm>
            <a:off x="0" y="594359"/>
            <a:ext cx="9144000" cy="54865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3"/>
          <p:cNvSpPr/>
          <p:nvPr/>
        </p:nvSpPr>
        <p:spPr>
          <a:xfrm>
            <a:off x="228600" y="777240"/>
            <a:ext cx="8686800" cy="6583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Text 4"/>
          <p:cNvSpPr txBox="1"/>
          <p:nvPr/>
        </p:nvSpPr>
        <p:spPr>
          <a:xfrm>
            <a:off x="411479" y="982271"/>
            <a:ext cx="8321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4A5568"/>
                </a:solidFill>
              </a:defRPr>
            </a:lvl1pPr>
          </a:lstStyle>
          <a:p>
            <a:pPr/>
            <a:r>
              <a:t>Modello non lineare con saturazione: u_sat(t) = sat(u(t), ±12 Nm) – il motore ha coppia massima limitata.</a:t>
            </a:r>
          </a:p>
        </p:txBody>
      </p:sp>
      <p:sp>
        <p:nvSpPr>
          <p:cNvPr id="217" name="Shape 5"/>
          <p:cNvSpPr/>
          <p:nvPr/>
        </p:nvSpPr>
        <p:spPr>
          <a:xfrm>
            <a:off x="228600" y="1536191"/>
            <a:ext cx="8686800" cy="34747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1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2767" y="1563623"/>
            <a:ext cx="8618466" cy="3410713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Shape 6"/>
          <p:cNvSpPr/>
          <p:nvPr/>
        </p:nvSpPr>
        <p:spPr>
          <a:xfrm>
            <a:off x="228600" y="4645152"/>
            <a:ext cx="8686800" cy="530353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7"/>
          <p:cNvSpPr txBox="1"/>
          <p:nvPr/>
        </p:nvSpPr>
        <p:spPr>
          <a:xfrm>
            <a:off x="411480" y="4788329"/>
            <a:ext cx="8412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1C2B4A"/>
                </a:solidFill>
              </a:defRPr>
            </a:lvl1pPr>
          </a:lstStyle>
          <a:p>
            <a:pPr/>
            <a:r>
              <a:t>La saturazione rallenta la risposta (coppia limitata nella fase iniziale) ma il sistema rimane stabile: l'uscita converge al riferimento.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1"/>
          <p:cNvSpPr/>
          <p:nvPr/>
        </p:nvSpPr>
        <p:spPr>
          <a:xfrm>
            <a:off x="320040" y="1280160"/>
            <a:ext cx="8503920" cy="45721"/>
          </a:xfrm>
          <a:prstGeom prst="rect">
            <a:avLst/>
          </a:prstGeom>
          <a:solidFill>
            <a:srgbClr val="E8A02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2"/>
          <p:cNvSpPr txBox="1"/>
          <p:nvPr/>
        </p:nvSpPr>
        <p:spPr>
          <a:xfrm>
            <a:off x="457199" y="391819"/>
            <a:ext cx="8229601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Sommario e Conclusioni</a:t>
            </a:r>
          </a:p>
        </p:txBody>
      </p:sp>
      <p:sp>
        <p:nvSpPr>
          <p:cNvPr id="225" name="Shape 3"/>
          <p:cNvSpPr/>
          <p:nvPr/>
        </p:nvSpPr>
        <p:spPr>
          <a:xfrm>
            <a:off x="411480" y="1444752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4"/>
          <p:cNvSpPr txBox="1"/>
          <p:nvPr/>
        </p:nvSpPr>
        <p:spPr>
          <a:xfrm>
            <a:off x="457200" y="1523922"/>
            <a:ext cx="1737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Sistema</a:t>
            </a:r>
          </a:p>
        </p:txBody>
      </p:sp>
      <p:sp>
        <p:nvSpPr>
          <p:cNvPr id="227" name="Text 5"/>
          <p:cNvSpPr txBox="1"/>
          <p:nvPr/>
        </p:nvSpPr>
        <p:spPr>
          <a:xfrm>
            <a:off x="2423160" y="1542210"/>
            <a:ext cx="63093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Braccio robotico 1-DOF, linearizzato in θ₀=0</a:t>
            </a:r>
          </a:p>
        </p:txBody>
      </p:sp>
      <p:sp>
        <p:nvSpPr>
          <p:cNvPr id="228" name="Shape 6"/>
          <p:cNvSpPr/>
          <p:nvPr/>
        </p:nvSpPr>
        <p:spPr>
          <a:xfrm>
            <a:off x="411480" y="1883664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7"/>
          <p:cNvSpPr txBox="1"/>
          <p:nvPr/>
        </p:nvSpPr>
        <p:spPr>
          <a:xfrm>
            <a:off x="457200" y="1962834"/>
            <a:ext cx="1737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G(s)</a:t>
            </a:r>
          </a:p>
        </p:txBody>
      </p:sp>
      <p:sp>
        <p:nvSpPr>
          <p:cNvPr id="230" name="Text 8"/>
          <p:cNvSpPr txBox="1"/>
          <p:nvPr/>
        </p:nvSpPr>
        <p:spPr>
          <a:xfrm>
            <a:off x="2423160" y="1981122"/>
            <a:ext cx="63093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2 / (s² + 4s + 9.81)  – tipo 0, poli complessi coniugati</a:t>
            </a:r>
          </a:p>
        </p:txBody>
      </p:sp>
      <p:sp>
        <p:nvSpPr>
          <p:cNvPr id="231" name="Shape 9"/>
          <p:cNvSpPr/>
          <p:nvPr/>
        </p:nvSpPr>
        <p:spPr>
          <a:xfrm>
            <a:off x="411480" y="2322576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0"/>
          <p:cNvSpPr txBox="1"/>
          <p:nvPr/>
        </p:nvSpPr>
        <p:spPr>
          <a:xfrm>
            <a:off x="457200" y="2401746"/>
            <a:ext cx="1737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C(s)</a:t>
            </a:r>
          </a:p>
        </p:txBody>
      </p:sp>
      <p:sp>
        <p:nvSpPr>
          <p:cNvPr id="233" name="Text 11"/>
          <p:cNvSpPr txBox="1"/>
          <p:nvPr/>
        </p:nvSpPr>
        <p:spPr>
          <a:xfrm>
            <a:off x="2423160" y="2420034"/>
            <a:ext cx="63093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(50s + 100)/s · (0.3s+1)/(0.015s+1)  – PI + Lead</a:t>
            </a:r>
          </a:p>
        </p:txBody>
      </p:sp>
      <p:sp>
        <p:nvSpPr>
          <p:cNvPr id="234" name="Shape 12"/>
          <p:cNvSpPr/>
          <p:nvPr/>
        </p:nvSpPr>
        <p:spPr>
          <a:xfrm>
            <a:off x="411480" y="2761488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3"/>
          <p:cNvSpPr txBox="1"/>
          <p:nvPr/>
        </p:nvSpPr>
        <p:spPr>
          <a:xfrm>
            <a:off x="457200" y="2840658"/>
            <a:ext cx="1737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Ff(s)</a:t>
            </a:r>
          </a:p>
        </p:txBody>
      </p:sp>
      <p:sp>
        <p:nvSpPr>
          <p:cNvPr id="236" name="Text 14"/>
          <p:cNvSpPr txBox="1"/>
          <p:nvPr/>
        </p:nvSpPr>
        <p:spPr>
          <a:xfrm>
            <a:off x="2423160" y="2858946"/>
            <a:ext cx="630936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4.905 Nm  – feedforward gravitazionale statico</a:t>
            </a:r>
          </a:p>
        </p:txBody>
      </p:sp>
      <p:sp>
        <p:nvSpPr>
          <p:cNvPr id="237" name="Shape 15"/>
          <p:cNvSpPr/>
          <p:nvPr/>
        </p:nvSpPr>
        <p:spPr>
          <a:xfrm>
            <a:off x="411480" y="3200400"/>
            <a:ext cx="1828801" cy="384048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16"/>
          <p:cNvSpPr txBox="1"/>
          <p:nvPr/>
        </p:nvSpPr>
        <p:spPr>
          <a:xfrm>
            <a:off x="457200" y="3279570"/>
            <a:ext cx="1737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ωc</a:t>
            </a:r>
          </a:p>
        </p:txBody>
      </p:sp>
      <p:sp>
        <p:nvSpPr>
          <p:cNvPr id="239" name="Text 17"/>
          <p:cNvSpPr txBox="1"/>
          <p:nvPr/>
        </p:nvSpPr>
        <p:spPr>
          <a:xfrm>
            <a:off x="2423160" y="3279713"/>
            <a:ext cx="630936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CADCFC"/>
                </a:solidFill>
              </a:defRPr>
            </a:pPr>
            <a:r>
              <a:t xml:space="preserve">28.0 rad/s    |    MF = 64.5°  &gt;  45°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40" name="Shape 18"/>
          <p:cNvSpPr/>
          <p:nvPr/>
        </p:nvSpPr>
        <p:spPr>
          <a:xfrm>
            <a:off x="411480" y="3639311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9"/>
          <p:cNvSpPr txBox="1"/>
          <p:nvPr/>
        </p:nvSpPr>
        <p:spPr>
          <a:xfrm>
            <a:off x="457200" y="3718482"/>
            <a:ext cx="1737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|S(j1)|</a:t>
            </a:r>
          </a:p>
        </p:txBody>
      </p:sp>
      <p:sp>
        <p:nvSpPr>
          <p:cNvPr id="242" name="Text 20"/>
          <p:cNvSpPr txBox="1"/>
          <p:nvPr/>
        </p:nvSpPr>
        <p:spPr>
          <a:xfrm>
            <a:off x="2423160" y="3718625"/>
            <a:ext cx="630936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CADCFC"/>
                </a:solidFill>
              </a:defRPr>
            </a:pPr>
            <a:r>
              <a:t xml:space="preserve">−27.8 dB  →  errore sinusoidale = 4.09%  &lt;  5%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43" name="Shape 21"/>
          <p:cNvSpPr/>
          <p:nvPr/>
        </p:nvSpPr>
        <p:spPr>
          <a:xfrm>
            <a:off x="411480" y="4078223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22"/>
          <p:cNvSpPr txBox="1"/>
          <p:nvPr/>
        </p:nvSpPr>
        <p:spPr>
          <a:xfrm>
            <a:off x="457200" y="4157393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OS</a:t>
            </a:r>
          </a:p>
        </p:txBody>
      </p:sp>
      <p:sp>
        <p:nvSpPr>
          <p:cNvPr id="245" name="Text 23"/>
          <p:cNvSpPr txBox="1"/>
          <p:nvPr/>
        </p:nvSpPr>
        <p:spPr>
          <a:xfrm>
            <a:off x="2423160" y="4157537"/>
            <a:ext cx="630936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CADCFC"/>
                </a:solidFill>
              </a:defRPr>
            </a:pPr>
            <a:r>
              <a:t xml:space="preserve">6.1%  &lt;  10%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 xml:space="preserve">✓   </a:t>
            </a:r>
            <a:r>
              <a:t>|   Ts = 0.169 s</a:t>
            </a:r>
          </a:p>
        </p:txBody>
      </p:sp>
      <p:sp>
        <p:nvSpPr>
          <p:cNvPr id="246" name="Shape 24"/>
          <p:cNvSpPr/>
          <p:nvPr/>
        </p:nvSpPr>
        <p:spPr>
          <a:xfrm>
            <a:off x="411480" y="4517135"/>
            <a:ext cx="1828801" cy="384049"/>
          </a:xfrm>
          <a:prstGeom prst="rect">
            <a:avLst/>
          </a:prstGeom>
          <a:solidFill>
            <a:srgbClr val="243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5"/>
          <p:cNvSpPr txBox="1"/>
          <p:nvPr/>
        </p:nvSpPr>
        <p:spPr>
          <a:xfrm>
            <a:off x="457200" y="4596305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A020"/>
                </a:solidFill>
              </a:defRPr>
            </a:lvl1pPr>
          </a:lstStyle>
          <a:p>
            <a:pPr/>
            <a:r>
              <a:t>τ max</a:t>
            </a:r>
          </a:p>
        </p:txBody>
      </p:sp>
      <p:sp>
        <p:nvSpPr>
          <p:cNvPr id="248" name="Text 26"/>
          <p:cNvSpPr txBox="1"/>
          <p:nvPr/>
        </p:nvSpPr>
        <p:spPr>
          <a:xfrm>
            <a:off x="2423160" y="4614593"/>
            <a:ext cx="630936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0.040 s  (robustezza a ritardi)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